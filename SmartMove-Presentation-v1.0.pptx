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9A5B-ACE3-AB89-F14A-AEF54CB4D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B1214-9574-EF40-339E-CF3C933D2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1AAB5-76FF-566F-8838-2B967D26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F8A3-C07C-48ED-9883-40CD43106613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3A907-D84A-D009-32D7-C428ABA95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F732B-EC69-7E35-6B1E-8E8CEECC5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DD5B-3445-4EB4-8C5B-15F491D5E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88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22ADD-386B-4D2A-5A8A-314201A08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03C6A-9682-E5DA-539F-72E46EE2E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A6AF5-17C8-D945-9CF0-BA2C5760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F8A3-C07C-48ED-9883-40CD43106613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D2C3D-71F0-A87E-97A4-F25BBF79B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7F7AC-160A-C1CF-B5BE-16A79A94D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DD5B-3445-4EB4-8C5B-15F491D5E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54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D7052-0EF9-A594-0F79-3AF929737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B87CC-C743-1E30-895D-2A4313253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6A0A6-B82C-C80F-9CEE-0CCA2884E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F8A3-C07C-48ED-9883-40CD43106613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D5734-80BC-BF8F-A16C-9E385F60F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573AA-2EC6-498D-88DC-0E8895FBC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DD5B-3445-4EB4-8C5B-15F491D5E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142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275B7-23EC-DB90-8B88-973AAA31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662C0-7CDD-7253-A9F1-F644EEE28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0FA4E-E979-30C8-7623-BD6698CEC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C45AA-87CE-4D6B-47E6-5A202E431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F8A3-C07C-48ED-9883-40CD43106613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B1B18-34F8-FF99-7D7C-B3FF67382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47F6B-2F44-F288-6D0E-97FE4D08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DD5B-3445-4EB4-8C5B-15F491D5E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128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3F343-5963-8C33-AC63-915AB0DF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2722A-7182-ADF7-F524-996422FA3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49AA5-3DF2-0AAA-6553-32EEE5C2C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5CBFDE-382D-AB7F-1CEC-21B0068882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6862A8-EC65-B4E6-8CDE-FCF7E62AE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47087E-81A9-533D-2BF8-BE9A11A93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F8A3-C07C-48ED-9883-40CD43106613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E914E9-B1EA-51B9-6FE2-F5FDDA3C1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4E4B36-DA1F-37BF-80B6-E700FE4EF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DD5B-3445-4EB4-8C5B-15F491D5E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985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24BA-D7C0-7955-DF65-C53A55ADD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87E12D-55DA-B8BD-D9B7-D094A2BD5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F8A3-C07C-48ED-9883-40CD43106613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110A8B-46CD-BD23-DAA2-12FD84F0A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920B6-F958-AE4A-A647-9C55861E8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DD5B-3445-4EB4-8C5B-15F491D5E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115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6EB00E-756B-FAC5-18EE-D5154D6E7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F8A3-C07C-48ED-9883-40CD43106613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8E09A9-4E76-0762-D716-311A603FD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CFA79-364A-7949-CF8F-40369D4D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DD5B-3445-4EB4-8C5B-15F491D5E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480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92CE0-F84A-7167-EA0E-352AD921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19205-20E8-12B8-1355-E7826831C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1498E-A153-4F74-72BF-C0BAE2509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95AFC-9DF1-E9E7-CF26-D9F071383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F8A3-C07C-48ED-9883-40CD43106613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8182A-335A-096E-ED06-0FFC67B90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C029FA-DE73-5EFB-F00A-5B79FF328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DD5B-3445-4EB4-8C5B-15F491D5E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9545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6AD27-2898-6053-D3A9-27C00F1F6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A717DF-3E33-42F8-0D54-C643DAA56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13882-0078-BB54-9609-FD344F549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617B1-CE29-AF71-9897-DF3CAD138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F8A3-C07C-48ED-9883-40CD43106613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75124-1569-B688-C681-7B2F5DB0D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CF891-F23C-C921-9D9F-3DD9AB03F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DD5B-3445-4EB4-8C5B-15F491D5E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881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DDDEE-9F13-AF20-70B9-CEBD93327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651FF-FE8E-E62B-FFD5-5573E09E6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9A3D8-FBD6-47BF-F700-A66E2DB5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F8A3-C07C-48ED-9883-40CD43106613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416BF-FEEA-FC64-6797-D6A73F88A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48BAD-08BE-C657-2476-68C0D0DBE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DD5B-3445-4EB4-8C5B-15F491D5E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797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06C436-87F0-2DCC-5FF1-FB21A60129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7A592-F670-B680-2535-C33DCF1F8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E3663-B97D-D9DB-8FC8-36E1BEC5A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F8A3-C07C-48ED-9883-40CD43106613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98E85-A2E1-3089-ADB3-FE0E0B029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409A0-0A01-8832-383D-556113632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DD5B-3445-4EB4-8C5B-15F491D5E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275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55997A-B7D7-3134-8C94-F6064667E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5EFC5-A169-7C9B-0D94-899A11CE3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6476D-974B-5FFC-D2ED-22C78687E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6F8A3-C07C-48ED-9883-40CD43106613}" type="datetimeFigureOut">
              <a:rPr lang="en-GB" smtClean="0"/>
              <a:t>13/10/2026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83F67-71E5-6FF5-C623-E55610D02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2032D-AE5B-6B50-2E75-C65F4DE1A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5DD5B-3445-4EB4-8C5B-15F491D5EE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273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260CD-11C1-CFBE-53B1-D2693CFB3B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5E8E79-620D-94F9-92B1-C3BE59275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840" y="1122363"/>
            <a:ext cx="10170160" cy="5349557"/>
          </a:xfrm>
        </p:spPr>
        <p:txBody>
          <a:bodyPr>
            <a:normAutofit/>
          </a:bodyPr>
          <a:lstStyle/>
          <a:p>
            <a:pPr lvl="0" algn="l"/>
            <a:r>
              <a:rPr lang="en-GB" b="1" dirty="0"/>
              <a:t>Project Name:</a:t>
            </a:r>
            <a:r>
              <a:rPr lang="en-GB" dirty="0"/>
              <a:t> </a:t>
            </a:r>
            <a:r>
              <a:rPr lang="en-GB" i="1" dirty="0" err="1"/>
              <a:t>SmartMoveTransport</a:t>
            </a:r>
            <a:endParaRPr lang="en-GB" dirty="0"/>
          </a:p>
          <a:p>
            <a:pPr lvl="0" algn="l"/>
            <a:r>
              <a:rPr lang="en-GB" b="1" dirty="0"/>
              <a:t>Course:</a:t>
            </a:r>
            <a:r>
              <a:rPr lang="en-GB" dirty="0"/>
              <a:t> DB2 Module – Course Work</a:t>
            </a:r>
          </a:p>
          <a:p>
            <a:pPr lvl="0" algn="l"/>
            <a:r>
              <a:rPr lang="en-GB" b="1" dirty="0"/>
              <a:t>Tech Stack:</a:t>
            </a:r>
            <a:r>
              <a:rPr lang="en-GB" dirty="0"/>
              <a:t> PHP 7/8, HTML 5, CSS 3, JavaScript, Oracle XE, MongoDB, XAMPP (Windows)</a:t>
            </a:r>
          </a:p>
          <a:p>
            <a:pPr lvl="0" algn="l"/>
            <a:endParaRPr lang="en-GB" dirty="0"/>
          </a:p>
          <a:p>
            <a:pPr lvl="0" algn="l"/>
            <a:endParaRPr lang="en-GB" dirty="0"/>
          </a:p>
          <a:p>
            <a:pPr lvl="0" algn="l"/>
            <a:endParaRPr lang="en-GB" dirty="0"/>
          </a:p>
          <a:p>
            <a:pPr lvl="0" algn="l"/>
            <a:endParaRPr lang="en-GB" dirty="0"/>
          </a:p>
          <a:p>
            <a:pPr lvl="0" algn="l"/>
            <a:endParaRPr lang="en-GB" dirty="0"/>
          </a:p>
          <a:p>
            <a:pPr lvl="0" algn="l"/>
            <a:r>
              <a:rPr lang="en-GB" sz="1900" b="1" dirty="0"/>
              <a:t>Team :</a:t>
            </a:r>
            <a:r>
              <a:rPr lang="en-GB" sz="1900" dirty="0"/>
              <a:t>    </a:t>
            </a:r>
            <a:r>
              <a:rPr lang="en-GB" sz="1900" i="1" dirty="0" err="1"/>
              <a:t>Vinudana</a:t>
            </a:r>
            <a:r>
              <a:rPr lang="en-GB" sz="1900" i="1" dirty="0"/>
              <a:t> Dissanayaka (cohndse261f-001)</a:t>
            </a:r>
          </a:p>
          <a:p>
            <a:pPr algn="l"/>
            <a:r>
              <a:rPr lang="en-GB" sz="1900" i="1" dirty="0"/>
              <a:t>	Stephani Fernando (cohndse261f-049)</a:t>
            </a:r>
          </a:p>
          <a:p>
            <a:pPr lvl="0" algn="l"/>
            <a:endParaRPr lang="en-GB" dirty="0"/>
          </a:p>
          <a:p>
            <a:pPr lvl="0"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679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16E2-864A-7444-8D6C-89821ED95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&amp; Objectives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1410F-C958-DA0F-B859-42178F212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Build a </a:t>
            </a:r>
            <a:r>
              <a:rPr lang="en-GB" b="1" dirty="0"/>
              <a:t>web‑based transport booking system</a:t>
            </a:r>
            <a:r>
              <a:rPr lang="en-GB" dirty="0"/>
              <a:t> (bus, shuttle, etc.)</a:t>
            </a:r>
          </a:p>
          <a:p>
            <a:pPr lvl="0"/>
            <a:r>
              <a:rPr lang="en-GB" dirty="0"/>
              <a:t>Provide </a:t>
            </a:r>
            <a:r>
              <a:rPr lang="en-GB" b="1" dirty="0"/>
              <a:t>real‑time reservation</a:t>
            </a:r>
            <a:r>
              <a:rPr lang="en-GB" dirty="0"/>
              <a:t>, </a:t>
            </a:r>
            <a:r>
              <a:rPr lang="en-GB" b="1" dirty="0"/>
              <a:t>payment</a:t>
            </a:r>
            <a:r>
              <a:rPr lang="en-GB" dirty="0"/>
              <a:t>, </a:t>
            </a:r>
            <a:r>
              <a:rPr lang="en-GB" b="1" dirty="0"/>
              <a:t>refund</a:t>
            </a:r>
            <a:r>
              <a:rPr lang="en-GB" dirty="0"/>
              <a:t>, and </a:t>
            </a:r>
            <a:r>
              <a:rPr lang="en-GB" b="1" dirty="0"/>
              <a:t>analytics</a:t>
            </a:r>
            <a:endParaRPr lang="en-GB" dirty="0"/>
          </a:p>
          <a:p>
            <a:pPr lvl="0"/>
            <a:r>
              <a:rPr lang="en-GB" dirty="0"/>
              <a:t>Demonstrate </a:t>
            </a:r>
            <a:r>
              <a:rPr lang="en-GB" b="1" dirty="0"/>
              <a:t>dual‑database integration</a:t>
            </a:r>
            <a:r>
              <a:rPr lang="en-GB" dirty="0"/>
              <a:t> (relational + document) for a university assignment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3945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9571A-9F4B-AE15-C4F0-9C66F4323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High‑Level Architecture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13A6C2-ABA9-78B1-2D13-4882535F5E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166853"/>
              </p:ext>
            </p:extLst>
          </p:nvPr>
        </p:nvGraphicFramePr>
        <p:xfrm>
          <a:off x="838199" y="1572126"/>
          <a:ext cx="10952748" cy="3898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374">
                  <a:extLst>
                    <a:ext uri="{9D8B030D-6E8A-4147-A177-3AD203B41FA5}">
                      <a16:colId xmlns:a16="http://schemas.microsoft.com/office/drawing/2014/main" val="622762078"/>
                    </a:ext>
                  </a:extLst>
                </a:gridCol>
                <a:gridCol w="5476374">
                  <a:extLst>
                    <a:ext uri="{9D8B030D-6E8A-4147-A177-3AD203B41FA5}">
                      <a16:colId xmlns:a16="http://schemas.microsoft.com/office/drawing/2014/main" val="1742644454"/>
                    </a:ext>
                  </a:extLst>
                </a:gridCol>
              </a:tblGrid>
              <a:tr h="63934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148519"/>
                  </a:ext>
                </a:extLst>
              </a:tr>
              <a:tr h="639341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1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Web Front‑end</a:t>
                      </a:r>
                      <a:r>
                        <a:rPr lang="en-GB" sz="1600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 (HTML/CSS/JS)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UI, forms, maps, alerts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7914545"/>
                  </a:ext>
                </a:extLst>
              </a:tr>
              <a:tr h="639341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1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PHP Controllers / Models</a:t>
                      </a: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 (</a:t>
                      </a: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/Web/models/*.php</a:t>
                      </a: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Business logic, call DB layer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4502367"/>
                  </a:ext>
                </a:extLst>
              </a:tr>
              <a:tr h="670433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1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Oracle XE</a:t>
                      </a:r>
                      <a:endParaRPr lang="en-GB" sz="16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Core relational data (users, vehicles, trips, bookings, payments, refunds, shifts, maintenance)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8977687"/>
                  </a:ext>
                </a:extLst>
              </a:tr>
              <a:tr h="670433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1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MongoDB</a:t>
                      </a:r>
                      <a:endParaRPr lang="en-GB" sz="16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Analytic/feedback data (passenger reviews, vehicle docs, travel announcements)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1314598"/>
                  </a:ext>
                </a:extLst>
              </a:tr>
              <a:tr h="639341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1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External services</a:t>
                      </a: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 (e.g., email, SMS) – optional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Notification &amp; logging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959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9323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02EB4-C151-4D79-F124-C2BB19983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456062-2D28-015C-275A-518457DE4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591" y="365124"/>
            <a:ext cx="11029146" cy="611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82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BC87-4D66-6173-C855-69500C38F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 Oracle XE – Core Relational Schema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6B08E9-EF94-7882-119D-E6454D33C5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726736"/>
              </p:ext>
            </p:extLst>
          </p:nvPr>
        </p:nvGraphicFramePr>
        <p:xfrm>
          <a:off x="838200" y="1825625"/>
          <a:ext cx="4718538" cy="3918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269">
                  <a:extLst>
                    <a:ext uri="{9D8B030D-6E8A-4147-A177-3AD203B41FA5}">
                      <a16:colId xmlns:a16="http://schemas.microsoft.com/office/drawing/2014/main" val="2645418504"/>
                    </a:ext>
                  </a:extLst>
                </a:gridCol>
                <a:gridCol w="2359269">
                  <a:extLst>
                    <a:ext uri="{9D8B030D-6E8A-4147-A177-3AD203B41FA5}">
                      <a16:colId xmlns:a16="http://schemas.microsoft.com/office/drawing/2014/main" val="3700712250"/>
                    </a:ext>
                  </a:extLst>
                </a:gridCol>
              </a:tblGrid>
              <a:tr h="43540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Primary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206670"/>
                  </a:ext>
                </a:extLst>
              </a:tr>
              <a:tr h="43540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USERS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USER_ID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396975"/>
                  </a:ext>
                </a:extLst>
              </a:tr>
              <a:tr h="43540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VEHICLES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VEHICLE_ID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7598018"/>
                  </a:ext>
                </a:extLst>
              </a:tr>
              <a:tr h="43540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TRIPS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TRIP_ID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8069519"/>
                  </a:ext>
                </a:extLst>
              </a:tr>
              <a:tr h="43540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BOOKINGS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BOOKING_ID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7933473"/>
                  </a:ext>
                </a:extLst>
              </a:tr>
              <a:tr h="43540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PAYMENTS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PAYMENT_ID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5474390"/>
                  </a:ext>
                </a:extLst>
              </a:tr>
              <a:tr h="43540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REFUNDS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REFUND_ID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337692"/>
                  </a:ext>
                </a:extLst>
              </a:tr>
              <a:tr h="43540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SHIFTS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SHIFT_ID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3743300"/>
                  </a:ext>
                </a:extLst>
              </a:tr>
              <a:tr h="43540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MAINTENANCE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MAINTENANCE_ID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707319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9C53B10-7800-2D30-7675-416087EDCDB2}"/>
              </a:ext>
            </a:extLst>
          </p:cNvPr>
          <p:cNvSpPr txBox="1"/>
          <p:nvPr/>
        </p:nvSpPr>
        <p:spPr>
          <a:xfrm>
            <a:off x="6285328" y="1825625"/>
            <a:ext cx="541606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Key PHP‑DB Helpers (see Web/config/</a:t>
            </a:r>
            <a:r>
              <a:rPr lang="en-GB" b="1" dirty="0" err="1"/>
              <a:t>db.php</a:t>
            </a:r>
            <a:r>
              <a:rPr lang="en-GB" b="1" dirty="0"/>
              <a:t>):</a:t>
            </a:r>
            <a:endParaRPr lang="en-GB" dirty="0"/>
          </a:p>
          <a:p>
            <a:pPr lvl="0"/>
            <a:r>
              <a:rPr lang="en-GB" dirty="0"/>
              <a:t>Database::</a:t>
            </a:r>
            <a:r>
              <a:rPr lang="en-GB" dirty="0" err="1">
                <a:highlight>
                  <a:srgbClr val="FFFF00"/>
                </a:highlight>
              </a:rPr>
              <a:t>getOracle</a:t>
            </a:r>
            <a:r>
              <a:rPr lang="en-GB" dirty="0">
                <a:highlight>
                  <a:srgbClr val="FFFF00"/>
                </a:highlight>
              </a:rPr>
              <a:t>() </a:t>
            </a:r>
            <a:r>
              <a:rPr lang="en-GB" dirty="0"/>
              <a:t>– lazy singleton Oracle connection (</a:t>
            </a:r>
            <a:r>
              <a:rPr lang="en-GB" dirty="0" err="1"/>
              <a:t>oci_connect</a:t>
            </a:r>
            <a:r>
              <a:rPr lang="en-GB" dirty="0"/>
              <a:t>)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Database::</a:t>
            </a:r>
            <a:r>
              <a:rPr lang="en-GB" dirty="0" err="1">
                <a:highlight>
                  <a:srgbClr val="FFFF00"/>
                </a:highlight>
              </a:rPr>
              <a:t>queryOracle</a:t>
            </a:r>
            <a:r>
              <a:rPr lang="en-GB" dirty="0">
                <a:highlight>
                  <a:srgbClr val="FFFF00"/>
                </a:highlight>
              </a:rPr>
              <a:t>($</a:t>
            </a:r>
            <a:r>
              <a:rPr lang="en-GB" dirty="0" err="1">
                <a:highlight>
                  <a:srgbClr val="FFFF00"/>
                </a:highlight>
              </a:rPr>
              <a:t>sql</a:t>
            </a:r>
            <a:r>
              <a:rPr lang="en-GB" dirty="0">
                <a:highlight>
                  <a:srgbClr val="FFFF00"/>
                </a:highlight>
              </a:rPr>
              <a:t>, $params) </a:t>
            </a:r>
            <a:r>
              <a:rPr lang="en-GB" dirty="0"/>
              <a:t>– SELECT helper with column‑alias mapping (e.g., </a:t>
            </a:r>
            <a:r>
              <a:rPr lang="en-GB" dirty="0" err="1"/>
              <a:t>tripid</a:t>
            </a:r>
            <a:r>
              <a:rPr lang="en-GB" dirty="0"/>
              <a:t> → </a:t>
            </a:r>
            <a:r>
              <a:rPr lang="en-GB" dirty="0" err="1"/>
              <a:t>tripId</a:t>
            </a:r>
            <a:r>
              <a:rPr lang="en-GB" dirty="0"/>
              <a:t>)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Database::</a:t>
            </a:r>
            <a:r>
              <a:rPr lang="en-GB" dirty="0" err="1">
                <a:highlight>
                  <a:srgbClr val="FFFF00"/>
                </a:highlight>
              </a:rPr>
              <a:t>executeOracle</a:t>
            </a:r>
            <a:r>
              <a:rPr lang="en-GB" dirty="0">
                <a:highlight>
                  <a:srgbClr val="FFFF00"/>
                </a:highlight>
              </a:rPr>
              <a:t>($</a:t>
            </a:r>
            <a:r>
              <a:rPr lang="en-GB" dirty="0" err="1">
                <a:highlight>
                  <a:srgbClr val="FFFF00"/>
                </a:highlight>
              </a:rPr>
              <a:t>sql</a:t>
            </a:r>
            <a:r>
              <a:rPr lang="en-GB" dirty="0">
                <a:highlight>
                  <a:srgbClr val="FFFF00"/>
                </a:highlight>
              </a:rPr>
              <a:t>, $params) </a:t>
            </a:r>
            <a:r>
              <a:rPr lang="en-GB" dirty="0"/>
              <a:t>– INSERT/UPDATE/DELETE (auto‑commit)</a:t>
            </a:r>
          </a:p>
          <a:p>
            <a:pPr lvl="0"/>
            <a:r>
              <a:rPr lang="en-GB" dirty="0"/>
              <a:t>Stored‑procedure wrappers (</a:t>
            </a:r>
            <a:r>
              <a:rPr lang="en-GB" dirty="0" err="1"/>
              <a:t>callBookTicket</a:t>
            </a:r>
            <a:r>
              <a:rPr lang="en-GB" dirty="0"/>
              <a:t>, </a:t>
            </a:r>
            <a:r>
              <a:rPr lang="en-GB" dirty="0" err="1"/>
              <a:t>callProcessRefund</a:t>
            </a:r>
            <a:r>
              <a:rPr lang="en-GB" dirty="0"/>
              <a:t>) that pass input/output parameters via PL/SQL blocks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442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CF1CD-5511-F418-6B50-16519D62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PHP Model Overview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59ECB6-9B81-5D32-7289-7D6D8CC26D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6976978"/>
              </p:ext>
            </p:extLst>
          </p:nvPr>
        </p:nvGraphicFramePr>
        <p:xfrm>
          <a:off x="838200" y="1825625"/>
          <a:ext cx="105156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1910231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489408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GB" sz="2000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Primary Responsibilities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880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User.php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CRUD on </a:t>
                      </a: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USERS</a:t>
                      </a: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, authentication helpers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4505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Vehicle.php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CRUD on </a:t>
                      </a: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VEHICLES</a:t>
                      </a: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, expose document retrieval via </a:t>
                      </a: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MongoService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9387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Booking.php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Wrapper around Oracle booking &amp; refund procedures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7468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News.php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Pulls system announcements (</a:t>
                      </a: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travel_announcements</a:t>
                      </a: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) from MongoDB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297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MongoService.php</a:t>
                      </a:r>
                      <a:endParaRPr lang="en-GB" sz="1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Analytic queries, top‑rated lists, keyword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3482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Database</a:t>
                      </a: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 (</a:t>
                      </a: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db.php</a:t>
                      </a:r>
                      <a:r>
                        <a:rPr lang="en-GB" sz="18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Low‑level DB abstraction (Oracle + MongoDB)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6689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06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5707-6059-5370-1EF7-F0577C69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80F7DA7-081B-C025-8A8A-FA5F11A7D6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7427024"/>
              </p:ext>
            </p:extLst>
          </p:nvPr>
        </p:nvGraphicFramePr>
        <p:xfrm>
          <a:off x="441960" y="888048"/>
          <a:ext cx="11308080" cy="5809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846107283"/>
                    </a:ext>
                  </a:extLst>
                </a:gridCol>
                <a:gridCol w="6136640">
                  <a:extLst>
                    <a:ext uri="{9D8B030D-6E8A-4147-A177-3AD203B41FA5}">
                      <a16:colId xmlns:a16="http://schemas.microsoft.com/office/drawing/2014/main" val="3298145656"/>
                    </a:ext>
                  </a:extLst>
                </a:gridCol>
                <a:gridCol w="3586480">
                  <a:extLst>
                    <a:ext uri="{9D8B030D-6E8A-4147-A177-3AD203B41FA5}">
                      <a16:colId xmlns:a16="http://schemas.microsoft.com/office/drawing/2014/main" val="2348510226"/>
                    </a:ext>
                  </a:extLst>
                </a:gridCol>
              </a:tblGrid>
              <a:tr h="37965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Slide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Picture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Why it Helps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9724139"/>
                  </a:ext>
                </a:extLst>
              </a:tr>
              <a:tr h="655301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1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Architecture diagram</a:t>
                      </a: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 (above)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Gives a “big picture” view of components and data flow.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224468"/>
                  </a:ext>
                </a:extLst>
              </a:tr>
              <a:tr h="655301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DB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1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Oracle ER diagram</a:t>
                      </a: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 (above)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Shows relational tables &amp; keys – great for DB module grading.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10215"/>
                  </a:ext>
                </a:extLst>
              </a:tr>
              <a:tr h="655301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1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MongoDB collections diagram</a:t>
                      </a: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 (above)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Highlights why a document DB was chosen.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542641"/>
                  </a:ext>
                </a:extLst>
              </a:tr>
              <a:tr h="93614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Booking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Flowchart of the ticket‑booking sequence (you can sketch or use a simple diagram tool)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Clarifies procedural steps for the audience.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206458"/>
                  </a:ext>
                </a:extLst>
              </a:tr>
              <a:tr h="93614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UI Screenshots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Capture a few pages from </a:t>
                      </a: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ui-monospace"/>
                        </a:rPr>
                        <a:t>/Web/index.php</a:t>
                      </a: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 (login, trip list, booking confirmation)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Demonstrates the actual UI you built.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4105763"/>
                  </a:ext>
                </a:extLst>
              </a:tr>
              <a:tr h="655301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Sample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Screenshot of a passenger review page (MongoDB output)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Shows analytics in action.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179596"/>
                  </a:ext>
                </a:extLst>
              </a:tr>
              <a:tr h="93614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Health Check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Console output or a small table showing Oracle &amp; MongoDB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Proves robustness.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6610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394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548</Words>
  <Application>Microsoft Office PowerPoint</Application>
  <PresentationFormat>Widescreen</PresentationFormat>
  <Paragraphs>92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Segoe WPC</vt:lpstr>
      <vt:lpstr>ui-monospace</vt:lpstr>
      <vt:lpstr>Office Theme</vt:lpstr>
      <vt:lpstr>PowerPoint Presentation</vt:lpstr>
      <vt:lpstr>Problem &amp; Objectives </vt:lpstr>
      <vt:lpstr>High‑Level Architecture </vt:lpstr>
      <vt:lpstr>PowerPoint Presentation</vt:lpstr>
      <vt:lpstr> Oracle XE – Core Relational Schema </vt:lpstr>
      <vt:lpstr>PHP Model Overview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R A A S</dc:creator>
  <cp:lastModifiedBy>FERNANDO R A A S</cp:lastModifiedBy>
  <cp:revision>1</cp:revision>
  <dcterms:created xsi:type="dcterms:W3CDTF">2026-10-13T15:32:12Z</dcterms:created>
  <dcterms:modified xsi:type="dcterms:W3CDTF">2026-10-13T15:41:04Z</dcterms:modified>
</cp:coreProperties>
</file>